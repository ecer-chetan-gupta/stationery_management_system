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1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630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everyone, and welcome to the presentation of my Capstone Project, the Stationery Management System (SMS).</a:t>
            </a:r>
          </a:p>
          <a:p>
            <a:endParaRPr/>
          </a:p>
          <a:p>
            <a:r>
              <a:t>This application is a complete, enterprise-grade, microservices-based web application designed to digitize and manage inventory allocation and requisition workflows in an academic or corporate environment. Today, I will walk you through the system's architecture, technologies, security model, database designs, and operational deployment.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First, let's look at why we built this system.</a:t>
            </a:r>
          </a:p>
          <a:p>
            <a:endParaRPr/>
          </a:p>
          <a:p>
            <a:r>
              <a:t>In many colleges, requesting basic supplies like pens or paper involves manual logs. Students fill out paper requests, admins manually check stock, and issues are approved verbally. This leads to lost logs, lack of audit trails, and frequent out-of-stock events.</a:t>
            </a:r>
          </a:p>
          <a:p>
            <a:r>
              <a:t>Our digital solution addresses this by centralizing operations, providing role-based security, and automating inventory calculations.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system centers around three primary workflows.</a:t>
            </a:r>
          </a:p>
          <a:p>
            <a:endParaRPr/>
          </a:p>
          <a:p>
            <a:r>
              <a:t>First, Student Checkout allows students to browse the catalog and submit orders.</a:t>
            </a:r>
          </a:p>
          <a:p>
            <a:r>
              <a:t>Second, Admin Control provides full CRUD operations and a request approval list.</a:t>
            </a:r>
          </a:p>
          <a:p>
            <a:r>
              <a:t>Third, Dynamic Stock Deduction automatically checks stock and deducts quantities when a request is approved.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look at the system architecture.</a:t>
            </a:r>
          </a:p>
          <a:p>
            <a:endParaRPr/>
          </a:p>
          <a:p>
            <a:r>
              <a:t>We have an API Gateway running on port 8080, which acts as the entrypoint for the UI.</a:t>
            </a:r>
          </a:p>
          <a:p>
            <a:r>
              <a:t>On the top right, we have our infrastructure services: Eureka Discovery Registry and the Centralized Config Server.</a:t>
            </a:r>
          </a:p>
          <a:p>
            <a:r>
              <a:t>Below them are our three business microservices. Each service is database-isolated, meaning they have their own databases: auth_db, inventory_db, and request_db.</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technology stack used in this project.</a:t>
            </a:r>
          </a:p>
          <a:p>
            <a:endParaRPr/>
          </a:p>
          <a:p>
            <a:r>
              <a:t>On the backend, we use Java 17 and Spring Boot 3.2.5.</a:t>
            </a:r>
          </a:p>
          <a:p>
            <a:r>
              <a:t>For service coordination, we use Spring Cloud components, including Eureka and Config Server.</a:t>
            </a:r>
          </a:p>
          <a:p>
            <a:r>
              <a:t>The frontend is built using React 19, Vite, and Tailwind CSS.</a:t>
            </a:r>
          </a:p>
          <a:p>
            <a:r>
              <a:t>Finally, for DevOps, we use MySQL 8.0, Docker, and Jenkins pipelines.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look at how Discovery and Config management work.</a:t>
            </a:r>
          </a:p>
          <a:p>
            <a:endParaRPr/>
          </a:p>
          <a:p>
            <a:r>
              <a:t>First, Config Server handles central configurations. Databases passwords and secrets are stored separately from the code repositories. This helps manage profiles for both dev and prod environments.</a:t>
            </a:r>
          </a:p>
          <a:p>
            <a:r>
              <a:t>Second, Eureka handles service discovery. Services register themselves on startup, allowing us to look them up dynamically by application name rather than using hardcoded URLs.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Security is handled centrally at the API Gateway.</a:t>
            </a:r>
          </a:p>
          <a:p>
            <a:endParaRPr/>
          </a:p>
          <a:p>
            <a:r>
              <a:t>When a request comes from the React app, the Gateway's JwtAuthFilter extracts and validates the JWT token.</a:t>
            </a:r>
          </a:p>
          <a:p>
            <a:r>
              <a:t>If it is valid, the filter mutates the request headers to propagate user details downstream.</a:t>
            </a:r>
          </a:p>
          <a:p>
            <a:r>
              <a:t>This keeps downstream microservices completely stateless and decouples the token parsing logic.</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look at the Auth and Inventory services.</a:t>
            </a:r>
          </a:p>
          <a:p>
            <a:endParaRPr/>
          </a:p>
          <a:p>
            <a:r>
              <a:t>The Auth Service manages the user database, hashes passwords using BCrypt, and issues tokens.</a:t>
            </a:r>
          </a:p>
          <a:p>
            <a:r>
              <a:t>The Inventory Service manages the catalog database, handles CRUD operations, and monitors stock thresholds to trigger low-stock alerts.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how the Request Service interacts with the Inventory Service.</a:t>
            </a:r>
          </a:p>
          <a:p>
            <a:endParaRPr/>
          </a:p>
          <a:p>
            <a:r>
              <a:t>We use Spring Cloud OpenFeign. The client interface shown on the left abstracts the REST call. When an Admin approves an order, the Request Service calls the Feign client to deduct the stock. If the Inventory Service returns a failure, the transaction rolls back automatically, keeping database states consistent.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sequence of events during a live transaction.</a:t>
            </a:r>
          </a:p>
          <a:p>
            <a:endParaRPr/>
          </a:p>
          <a:p>
            <a:r>
              <a:t>It starts with cart submission by the student.</a:t>
            </a:r>
          </a:p>
          <a:p>
            <a:r>
              <a:t>The order is registered as PENDING. The Admin reviews and approves it.</a:t>
            </a:r>
          </a:p>
          <a:p>
            <a:r>
              <a:t>This triggers a Feign client call to deduct stock. Once that completes, the status is updated to APPROVED in the database.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look at the database schema.</a:t>
            </a:r>
          </a:p>
          <a:p>
            <a:endParaRPr/>
          </a:p>
          <a:p>
            <a:r>
              <a:t>We enforce database-per-service isolation with three decoupled databases: auth_db, inventory_db, and request_db.</a:t>
            </a:r>
          </a:p>
          <a:p>
            <a:r>
              <a:t>Importantly, we use logical keys rather than foreign key constraints across database boundaries. For example, request_items references item_id logically, but doesn't have a physical constraint.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containerization and CI/CD, we use Docker and Jenkins.</a:t>
            </a:r>
          </a:p>
          <a:p>
            <a:endParaRPr/>
          </a:p>
          <a:p>
            <a:r>
              <a:t>Docker Compose allows us to boot the entire system with a single command.</a:t>
            </a:r>
          </a:p>
          <a:p>
            <a:r>
              <a:t>The Jenkinsfile defines an automated pipeline that checks the build node, compiles the services, and runs test suites before packaging and deploying the jars.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place a strong emphasis on testing and code quality.</a:t>
            </a:r>
          </a:p>
          <a:p>
            <a:endParaRPr/>
          </a:p>
          <a:p>
            <a:r>
              <a:t>All business logic is validated using isolated unit tests. We mock database repositories and network clients using Mockito. This ensures our tests are completely isolated.</a:t>
            </a:r>
          </a:p>
          <a:p>
            <a:r>
              <a:t>We also use JaCoCo to measure code coverage levels, giving us regression safety during code updates.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043"/>
        </a:solidFill>
        <a:effectLst/>
      </p:bgPr>
    </p:bg>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4F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2011680"/>
            <a:ext cx="9601200" cy="3200400"/>
          </a:xfrm>
          <a:prstGeom prst="rect">
            <a:avLst/>
          </a:prstGeom>
          <a:noFill/>
        </p:spPr>
        <p:txBody>
          <a:bodyPr wrap="square" lIns="0" tIns="0" rIns="0" bIns="0">
            <a:spAutoFit/>
          </a:bodyPr>
          <a:lstStyle/>
          <a:p>
            <a:pPr>
              <a:defRPr sz="4400" b="1">
                <a:solidFill>
                  <a:srgbClr val="FFFFFF"/>
                </a:solidFill>
                <a:latin typeface="Arial"/>
              </a:defRPr>
            </a:pPr>
            <a:r>
              <a:t>Stationery Management System</a:t>
            </a:r>
          </a:p>
          <a:p>
            <a:pPr>
              <a:defRPr sz="1800">
                <a:solidFill>
                  <a:srgbClr val="06B6D4"/>
                </a:solidFill>
                <a:latin typeface="Arial"/>
              </a:defRPr>
            </a:pPr>
            <a:r>
              <a:t>A Microservices-Based College Inventory &amp; Request Platform</a:t>
            </a:r>
          </a:p>
          <a:p>
            <a:pPr>
              <a:spcBef>
                <a:spcPts val="3000"/>
              </a:spcBef>
              <a:defRPr sz="1400">
                <a:solidFill>
                  <a:srgbClr val="FFFFFF"/>
                </a:solidFill>
                <a:latin typeface="Arial"/>
              </a:defRPr>
            </a:pPr>
            <a:r>
              <a:t>Java Spring Boot • React • Spring Cloud • Docker • Jenkins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2800" b="1">
                <a:solidFill>
                  <a:srgbClr val="0F2043"/>
                </a:solidFill>
                <a:latin typeface="Arial"/>
              </a:defRPr>
            </a:pPr>
            <a:r>
              <a:t>The Problem Statement</a:t>
            </a:r>
          </a:p>
          <a:p>
            <a:pPr>
              <a:defRPr sz="1300">
                <a:solidFill>
                  <a:srgbClr val="4F66F1"/>
                </a:solidFill>
                <a:latin typeface="Arial"/>
              </a:defRPr>
            </a:pPr>
            <a:r>
              <a:t>Understanding the operational inefficiencies in manual supply chains</a:t>
            </a:r>
          </a:p>
        </p:txBody>
      </p:sp>
      <p:sp>
        <p:nvSpPr>
          <p:cNvPr id="3" name="Rounded Rectangle 2"/>
          <p:cNvSpPr/>
          <p:nvPr/>
        </p:nvSpPr>
        <p:spPr>
          <a:xfrm>
            <a:off x="731520" y="1828800"/>
            <a:ext cx="5029200" cy="411480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365760" tIns="365760" rIns="365760" rtlCol="0" anchor="ctr"/>
          <a:lstStyle/>
          <a:p>
            <a:pPr algn="ctr">
              <a:defRPr sz="1500" b="1">
                <a:solidFill>
                  <a:srgbClr val="EF4444"/>
                </a:solidFill>
              </a:defRPr>
            </a:pPr>
            <a:r>
              <a:t>MANUAL LOGISTICS &amp; WORKFLOWS</a:t>
            </a:r>
          </a:p>
          <a:p>
            <a:pPr>
              <a:spcBef>
                <a:spcPts val="1200"/>
              </a:spcBef>
              <a:defRPr sz="1200">
                <a:solidFill>
                  <a:srgbClr val="475569"/>
                </a:solidFill>
              </a:defRPr>
            </a:pPr>
            <a:r>
              <a:t>• Silos &amp; Paper Logs: Request sheets and receipts are filled out by hand, leading to high error rates and lost logs.</a:t>
            </a:r>
          </a:p>
          <a:p>
            <a:pPr>
              <a:spcBef>
                <a:spcPts val="1200"/>
              </a:spcBef>
              <a:defRPr sz="1200">
                <a:solidFill>
                  <a:srgbClr val="475569"/>
                </a:solidFill>
              </a:defRPr>
            </a:pPr>
            <a:r>
              <a:t>• Zero Stock Visibility: Students have no way to check if notebook or writing supplies are in stock before requesting.</a:t>
            </a:r>
          </a:p>
          <a:p>
            <a:pPr>
              <a:spcBef>
                <a:spcPts val="1200"/>
              </a:spcBef>
              <a:defRPr sz="1200">
                <a:solidFill>
                  <a:srgbClr val="475569"/>
                </a:solidFill>
              </a:defRPr>
            </a:pPr>
            <a:r>
              <a:t>• Delayed Approval Cycles: Requests sit in paper trays waiting for admin check, delaying resource distribution.</a:t>
            </a:r>
          </a:p>
          <a:p>
            <a:pPr>
              <a:spcBef>
                <a:spcPts val="1200"/>
              </a:spcBef>
              <a:defRPr sz="1200">
                <a:solidFill>
                  <a:srgbClr val="475569"/>
                </a:solidFill>
              </a:defRPr>
            </a:pPr>
            <a:r>
              <a:t>• No Low-Stock Safeguards: Outages occur because there are no notifications when stock falls below minimum thresholds.</a:t>
            </a:r>
          </a:p>
        </p:txBody>
      </p:sp>
      <p:sp>
        <p:nvSpPr>
          <p:cNvPr id="4" name="Rounded Rectangle 3"/>
          <p:cNvSpPr/>
          <p:nvPr/>
        </p:nvSpPr>
        <p:spPr>
          <a:xfrm>
            <a:off x="6400800" y="1828800"/>
            <a:ext cx="5029200" cy="4114800"/>
          </a:xfrm>
          <a:prstGeom prst="roundRect">
            <a:avLst/>
          </a:prstGeom>
          <a:solidFill>
            <a:srgbClr val="0F2043"/>
          </a:solidFill>
          <a:ln>
            <a:noFill/>
          </a:ln>
        </p:spPr>
        <p:style>
          <a:lnRef idx="1">
            <a:schemeClr val="accent1"/>
          </a:lnRef>
          <a:fillRef idx="3">
            <a:schemeClr val="accent1"/>
          </a:fillRef>
          <a:effectRef idx="2">
            <a:schemeClr val="accent1"/>
          </a:effectRef>
          <a:fontRef idx="minor">
            <a:schemeClr val="lt1"/>
          </a:fontRef>
        </p:style>
        <p:txBody>
          <a:bodyPr wrap="square" lIns="365760" tIns="365760" rIns="365760" rtlCol="0" anchor="ctr"/>
          <a:lstStyle/>
          <a:p>
            <a:pPr algn="ctr">
              <a:defRPr sz="1500" b="1">
                <a:solidFill>
                  <a:srgbClr val="06B6D4"/>
                </a:solidFill>
              </a:defRPr>
            </a:pPr>
            <a:r>
              <a:t>THE DIGITAL SOLUTION TARGETS</a:t>
            </a:r>
          </a:p>
          <a:p>
            <a:pPr>
              <a:spcBef>
                <a:spcPts val="1200"/>
              </a:spcBef>
              <a:defRPr sz="1200">
                <a:solidFill>
                  <a:srgbClr val="FFFFFF"/>
                </a:solidFill>
              </a:defRPr>
            </a:pPr>
            <a:r>
              <a:t>• Centralized API Access: Access catalog and order status on a unified web application.</a:t>
            </a:r>
          </a:p>
          <a:p>
            <a:pPr>
              <a:spcBef>
                <a:spcPts val="1200"/>
              </a:spcBef>
              <a:defRPr sz="1200">
                <a:solidFill>
                  <a:srgbClr val="FFFFFF"/>
                </a:solidFill>
              </a:defRPr>
            </a:pPr>
            <a:r>
              <a:t>• Role-Based Security: Secure boundaries between student requests and administrative inventory configurations.</a:t>
            </a:r>
          </a:p>
          <a:p>
            <a:pPr>
              <a:spcBef>
                <a:spcPts val="1200"/>
              </a:spcBef>
              <a:defRPr sz="1200">
                <a:solidFill>
                  <a:srgbClr val="FFFFFF"/>
                </a:solidFill>
              </a:defRPr>
            </a:pPr>
            <a:r>
              <a:t>• Real-Time Integrations: Automated stock deductions triggered instantly on order approvals.</a:t>
            </a:r>
          </a:p>
          <a:p>
            <a:pPr>
              <a:spcBef>
                <a:spcPts val="1200"/>
              </a:spcBef>
              <a:defRPr sz="1200">
                <a:solidFill>
                  <a:srgbClr val="FFFFFF"/>
                </a:solidFill>
              </a:defRPr>
            </a:pPr>
            <a:r>
              <a:t>• Scalable Frameworks: Decoupled service structures ready for containerization and automated deployments.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2800" b="1">
                <a:solidFill>
                  <a:srgbClr val="0F2043"/>
                </a:solidFill>
                <a:latin typeface="Arial"/>
              </a:defRPr>
            </a:pPr>
            <a:r>
              <a:t>The Proposed Solution</a:t>
            </a:r>
          </a:p>
          <a:p>
            <a:pPr>
              <a:defRPr sz="1300">
                <a:solidFill>
                  <a:srgbClr val="4F66F1"/>
                </a:solidFill>
                <a:latin typeface="Arial"/>
              </a:defRPr>
            </a:pPr>
            <a:r>
              <a:t>An automated, responsive, and secure stationery distribution system</a:t>
            </a:r>
          </a:p>
        </p:txBody>
      </p:sp>
      <p:sp>
        <p:nvSpPr>
          <p:cNvPr id="3" name="Rounded Rectangle 2"/>
          <p:cNvSpPr/>
          <p:nvPr/>
        </p:nvSpPr>
        <p:spPr>
          <a:xfrm>
            <a:off x="731520" y="1828800"/>
            <a:ext cx="3291840" cy="384048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365760" rIns="274320" rtlCol="0" anchor="ctr"/>
          <a:lstStyle/>
          <a:p>
            <a:pPr algn="ctr">
              <a:defRPr sz="1800" b="1">
                <a:solidFill>
                  <a:srgbClr val="4F66F1"/>
                </a:solidFill>
              </a:defRPr>
            </a:pPr>
            <a:r>
              <a:t>Student Cart Checkout</a:t>
            </a:r>
          </a:p>
          <a:p>
            <a:pPr>
              <a:spcBef>
                <a:spcPts val="2000"/>
              </a:spcBef>
              <a:defRPr sz="1300">
                <a:solidFill>
                  <a:srgbClr val="475569"/>
                </a:solidFill>
              </a:defRPr>
            </a:pPr>
            <a:r>
              <a:t>Students register, log in, browse the active catalog, add items to a request basket, and submit orders directly via the React web UI.</a:t>
            </a:r>
          </a:p>
        </p:txBody>
      </p:sp>
      <p:sp>
        <p:nvSpPr>
          <p:cNvPr id="4" name="Rounded Rectangle 3"/>
          <p:cNvSpPr/>
          <p:nvPr/>
        </p:nvSpPr>
        <p:spPr>
          <a:xfrm>
            <a:off x="4297680" y="1828800"/>
            <a:ext cx="3291840" cy="384048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365760" rIns="274320" rtlCol="0" anchor="ctr"/>
          <a:lstStyle/>
          <a:p>
            <a:pPr algn="ctr">
              <a:defRPr sz="1800" b="1">
                <a:solidFill>
                  <a:srgbClr val="0F2043"/>
                </a:solidFill>
              </a:defRPr>
            </a:pPr>
            <a:r>
              <a:t>Admin Management Control</a:t>
            </a:r>
          </a:p>
          <a:p>
            <a:pPr>
              <a:spcBef>
                <a:spcPts val="2000"/>
              </a:spcBef>
              <a:defRPr sz="1300">
                <a:solidFill>
                  <a:srgbClr val="475569"/>
                </a:solidFill>
              </a:defRPr>
            </a:pPr>
            <a:r>
              <a:t>Administrators can manage the stationery catalog (CRUD operations), monitor inventory levels, and handle student requests.</a:t>
            </a:r>
          </a:p>
        </p:txBody>
      </p:sp>
      <p:sp>
        <p:nvSpPr>
          <p:cNvPr id="5" name="Rounded Rectangle 4"/>
          <p:cNvSpPr/>
          <p:nvPr/>
        </p:nvSpPr>
        <p:spPr>
          <a:xfrm>
            <a:off x="7863840" y="1828800"/>
            <a:ext cx="3291840" cy="384048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365760" rIns="274320" rtlCol="0" anchor="ctr"/>
          <a:lstStyle/>
          <a:p>
            <a:pPr algn="ctr">
              <a:defRPr sz="1800" b="1">
                <a:solidFill>
                  <a:srgbClr val="06B6D4"/>
                </a:solidFill>
              </a:defRPr>
            </a:pPr>
            <a:r>
              <a:t>Dynamic Stock Deduction</a:t>
            </a:r>
          </a:p>
          <a:p>
            <a:pPr>
              <a:spcBef>
                <a:spcPts val="2000"/>
              </a:spcBef>
              <a:defRPr sz="1300">
                <a:solidFill>
                  <a:srgbClr val="475569"/>
                </a:solidFill>
              </a:defRPr>
            </a:pPr>
            <a:r>
              <a:t>An automated approval flow checks stock availability and deducts inventory dynamically across microservices on approval.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2800" b="1">
                <a:solidFill>
                  <a:srgbClr val="0F2043"/>
                </a:solidFill>
                <a:latin typeface="Arial"/>
              </a:defRPr>
            </a:pPr>
            <a:r>
              <a:t>Microservices Architecture</a:t>
            </a:r>
          </a:p>
          <a:p>
            <a:pPr>
              <a:defRPr sz="1300">
                <a:solidFill>
                  <a:srgbClr val="4F66F1"/>
                </a:solidFill>
                <a:latin typeface="Arial"/>
              </a:defRPr>
            </a:pPr>
            <a:r>
              <a:t>A decoupled, database-per-service microservice infrastructure</a:t>
            </a:r>
          </a:p>
        </p:txBody>
      </p:sp>
      <p:sp>
        <p:nvSpPr>
          <p:cNvPr id="3" name="Rounded Rectangle 2"/>
          <p:cNvSpPr/>
          <p:nvPr/>
        </p:nvSpPr>
        <p:spPr>
          <a:xfrm>
            <a:off x="731520" y="2011680"/>
            <a:ext cx="2926080" cy="3474720"/>
          </a:xfrm>
          <a:prstGeom prst="roundRect">
            <a:avLst/>
          </a:prstGeom>
          <a:solidFill>
            <a:srgbClr val="0F2043"/>
          </a:solidFill>
          <a:ln>
            <a:noFill/>
          </a:ln>
        </p:spPr>
        <p:style>
          <a:lnRef idx="1">
            <a:schemeClr val="accent1"/>
          </a:lnRef>
          <a:fillRef idx="3">
            <a:schemeClr val="accent1"/>
          </a:fillRef>
          <a:effectRef idx="2">
            <a:schemeClr val="accent1"/>
          </a:effectRef>
          <a:fontRef idx="minor">
            <a:schemeClr val="lt1"/>
          </a:fontRef>
        </p:style>
        <p:txBody>
          <a:bodyPr wrap="square" lIns="274320" tIns="365760" rtlCol="0" anchor="ctr"/>
          <a:lstStyle/>
          <a:p>
            <a:pPr algn="ctr">
              <a:defRPr sz="1800" b="1">
                <a:solidFill>
                  <a:srgbClr val="06B6D4"/>
                </a:solidFill>
              </a:defRPr>
            </a:pPr>
            <a:r>
              <a:t>API GATEWAY</a:t>
            </a:r>
            <a:br/>
            <a:r>
              <a:t>(Port 8080)</a:t>
            </a:r>
          </a:p>
          <a:p>
            <a:pPr>
              <a:spcBef>
                <a:spcPts val="2000"/>
              </a:spcBef>
              <a:defRPr sz="1200">
                <a:solidFill>
                  <a:srgbClr val="FFFFFF"/>
                </a:solidFill>
              </a:defRPr>
            </a:pPr>
            <a:r>
              <a:t>* Single Entrypoint</a:t>
            </a:r>
            <a:br/>
            <a:r>
              <a:t>* CORS Handling</a:t>
            </a:r>
            <a:br/>
            <a:r>
              <a:t>* JWT Extraction</a:t>
            </a:r>
            <a:br/>
            <a:r>
              <a:t>* Custom Header Downstream Propagations</a:t>
            </a:r>
          </a:p>
        </p:txBody>
      </p:sp>
      <p:sp>
        <p:nvSpPr>
          <p:cNvPr id="4" name="Rectangle 3"/>
          <p:cNvSpPr/>
          <p:nvPr/>
        </p:nvSpPr>
        <p:spPr>
          <a:xfrm>
            <a:off x="4114800" y="2011680"/>
            <a:ext cx="7315200" cy="1097280"/>
          </a:xfrm>
          <a:prstGeom prst="rect">
            <a:avLst/>
          </a:prstGeom>
          <a:solidFill>
            <a:srgbClr val="4F66F1"/>
          </a:solidFill>
          <a:ln>
            <a:no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300" b="1">
                <a:solidFill>
                  <a:srgbClr val="FFFFFF"/>
                </a:solidFill>
              </a:defRPr>
            </a:pPr>
            <a:r>
              <a:t>INFRASTRUCTURE SERVICES</a:t>
            </a:r>
          </a:p>
          <a:p>
            <a:pPr>
              <a:defRPr sz="1500" b="1">
                <a:solidFill>
                  <a:srgbClr val="06B6D4"/>
                </a:solidFill>
              </a:defRPr>
            </a:pPr>
            <a:r>
              <a:t>Eureka Discovery Server (:8761)  |  Central Config Server (:8888)</a:t>
            </a:r>
          </a:p>
        </p:txBody>
      </p:sp>
      <p:sp>
        <p:nvSpPr>
          <p:cNvPr id="5" name="Rounded Rectangle 4"/>
          <p:cNvSpPr/>
          <p:nvPr/>
        </p:nvSpPr>
        <p:spPr>
          <a:xfrm>
            <a:off x="4114800" y="3383280"/>
            <a:ext cx="2286000" cy="21031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82880" rtlCol="0" anchor="ctr"/>
          <a:lstStyle/>
          <a:p>
            <a:pPr algn="ctr">
              <a:defRPr sz="1300" b="1">
                <a:solidFill>
                  <a:srgbClr val="0F2043"/>
                </a:solidFill>
              </a:defRPr>
            </a:pPr>
            <a:r>
              <a:t>Auth Service (:8081)</a:t>
            </a:r>
          </a:p>
          <a:p>
            <a:pPr>
              <a:spcBef>
                <a:spcPts val="1000"/>
              </a:spcBef>
              <a:defRPr sz="1100">
                <a:solidFill>
                  <a:srgbClr val="475569"/>
                </a:solidFill>
              </a:defRPr>
            </a:pPr>
            <a:r>
              <a:t>DB: auth_db</a:t>
            </a:r>
            <a:br/>
            <a:r>
              <a:t>Responsibilities:</a:t>
            </a:r>
            <a:br/>
            <a:r>
              <a:t>* Users &amp; Roles</a:t>
            </a:r>
          </a:p>
        </p:txBody>
      </p:sp>
      <p:sp>
        <p:nvSpPr>
          <p:cNvPr id="6" name="Rounded Rectangle 5"/>
          <p:cNvSpPr/>
          <p:nvPr/>
        </p:nvSpPr>
        <p:spPr>
          <a:xfrm>
            <a:off x="6629400" y="3383280"/>
            <a:ext cx="2286000" cy="21031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82880" rtlCol="0" anchor="ctr"/>
          <a:lstStyle/>
          <a:p>
            <a:pPr algn="ctr">
              <a:defRPr sz="1300" b="1">
                <a:solidFill>
                  <a:srgbClr val="0F2043"/>
                </a:solidFill>
              </a:defRPr>
            </a:pPr>
            <a:r>
              <a:t>Inventory Service (:8082)</a:t>
            </a:r>
          </a:p>
          <a:p>
            <a:pPr>
              <a:spcBef>
                <a:spcPts val="1000"/>
              </a:spcBef>
              <a:defRPr sz="1100">
                <a:solidFill>
                  <a:srgbClr val="475569"/>
                </a:solidFill>
              </a:defRPr>
            </a:pPr>
            <a:r>
              <a:t>DB: inventory_db</a:t>
            </a:r>
            <a:br/>
            <a:r>
              <a:t>Responsibilities:</a:t>
            </a:r>
            <a:br/>
            <a:r>
              <a:t>* Stationery Catalog</a:t>
            </a:r>
          </a:p>
        </p:txBody>
      </p:sp>
      <p:sp>
        <p:nvSpPr>
          <p:cNvPr id="7" name="Rounded Rectangle 6"/>
          <p:cNvSpPr/>
          <p:nvPr/>
        </p:nvSpPr>
        <p:spPr>
          <a:xfrm>
            <a:off x="9144000" y="3383280"/>
            <a:ext cx="2286000" cy="21031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82880" rtlCol="0" anchor="ctr"/>
          <a:lstStyle/>
          <a:p>
            <a:pPr algn="ctr">
              <a:defRPr sz="1300" b="1">
                <a:solidFill>
                  <a:srgbClr val="0F2043"/>
                </a:solidFill>
              </a:defRPr>
            </a:pPr>
            <a:r>
              <a:t>Request Service (:8083)</a:t>
            </a:r>
          </a:p>
          <a:p>
            <a:pPr>
              <a:spcBef>
                <a:spcPts val="1000"/>
              </a:spcBef>
              <a:defRPr sz="1100">
                <a:solidFill>
                  <a:srgbClr val="475569"/>
                </a:solidFill>
              </a:defRPr>
            </a:pPr>
            <a:r>
              <a:t>DB: request_db</a:t>
            </a:r>
            <a:br/>
            <a:r>
              <a:t>Responsibilities:</a:t>
            </a:r>
            <a:br/>
            <a:r>
              <a:t>* Student Cart Orders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2800" b="1">
                <a:solidFill>
                  <a:srgbClr val="0F2043"/>
                </a:solidFill>
                <a:latin typeface="Arial"/>
              </a:defRPr>
            </a:pPr>
            <a:r>
              <a:t>The Technology Stack</a:t>
            </a:r>
          </a:p>
          <a:p>
            <a:pPr>
              <a:defRPr sz="1300">
                <a:solidFill>
                  <a:srgbClr val="4F66F1"/>
                </a:solidFill>
                <a:latin typeface="Arial"/>
              </a:defRPr>
            </a:pPr>
            <a:r>
              <a:t>Enterprise-grade frameworks and tools ensuring scalability and speed</a:t>
            </a:r>
          </a:p>
        </p:txBody>
      </p:sp>
      <p:sp>
        <p:nvSpPr>
          <p:cNvPr id="3" name="Rounded Rectangle 2"/>
          <p:cNvSpPr/>
          <p:nvPr/>
        </p:nvSpPr>
        <p:spPr>
          <a:xfrm>
            <a:off x="731520" y="1828800"/>
            <a:ext cx="2468880" cy="3840480"/>
          </a:xfrm>
          <a:prstGeom prst="roundRect">
            <a:avLst/>
          </a:prstGeom>
          <a:solidFill>
            <a:srgbClr val="4F66F1"/>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365760" rIns="182880" rtlCol="0" anchor="ctr"/>
          <a:lstStyle/>
          <a:p>
            <a:pPr algn="ctr">
              <a:defRPr sz="1600" b="1">
                <a:solidFill>
                  <a:srgbClr val="FFFFFF"/>
                </a:solidFill>
              </a:defRPr>
            </a:pPr>
            <a:r>
              <a:t>Backend Framework</a:t>
            </a:r>
          </a:p>
          <a:p>
            <a:pPr>
              <a:lnSpc>
                <a:spcPct val="130000"/>
              </a:lnSpc>
              <a:spcBef>
                <a:spcPts val="2000"/>
              </a:spcBef>
              <a:defRPr sz="1250">
                <a:solidFill>
                  <a:srgbClr val="06B6D4"/>
                </a:solidFill>
              </a:defRPr>
            </a:pPr>
            <a:r>
              <a:t>Java 17</a:t>
            </a:r>
            <a:br/>
            <a:r>
              <a:t>Spring Boot 3.2.5</a:t>
            </a:r>
            <a:br/>
            <a:r>
              <a:t>Spring Security</a:t>
            </a:r>
            <a:br/>
            <a:r>
              <a:t>Jakarta Validation</a:t>
            </a:r>
            <a:br/>
            <a:r>
              <a:t>Spring Cloud Gateway</a:t>
            </a:r>
          </a:p>
        </p:txBody>
      </p:sp>
      <p:sp>
        <p:nvSpPr>
          <p:cNvPr id="4" name="Rounded Rectangle 3"/>
          <p:cNvSpPr/>
          <p:nvPr/>
        </p:nvSpPr>
        <p:spPr>
          <a:xfrm>
            <a:off x="3474720" y="1828800"/>
            <a:ext cx="2468880" cy="3840480"/>
          </a:xfrm>
          <a:prstGeom prst="roundRect">
            <a:avLst/>
          </a:prstGeom>
          <a:solidFill>
            <a:srgbClr val="0F2043"/>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365760" rIns="182880" rtlCol="0" anchor="ctr"/>
          <a:lstStyle/>
          <a:p>
            <a:pPr algn="ctr">
              <a:defRPr sz="1600" b="1">
                <a:solidFill>
                  <a:srgbClr val="FFFFFF"/>
                </a:solidFill>
              </a:defRPr>
            </a:pPr>
            <a:r>
              <a:t>Central Services</a:t>
            </a:r>
          </a:p>
          <a:p>
            <a:pPr>
              <a:lnSpc>
                <a:spcPct val="130000"/>
              </a:lnSpc>
              <a:spcBef>
                <a:spcPts val="2000"/>
              </a:spcBef>
              <a:defRPr sz="1250">
                <a:solidFill>
                  <a:srgbClr val="06B6D4"/>
                </a:solidFill>
              </a:defRPr>
            </a:pPr>
            <a:r>
              <a:t>Eureka Discovery</a:t>
            </a:r>
            <a:br/>
            <a:r>
              <a:t>Config Server</a:t>
            </a:r>
            <a:br/>
            <a:r>
              <a:t>OpenFeign Client</a:t>
            </a:r>
            <a:br/>
            <a:r>
              <a:t>Spring Actuator</a:t>
            </a:r>
            <a:br/>
            <a:r>
              <a:t>JJWT (JWT sign/parse)</a:t>
            </a:r>
          </a:p>
        </p:txBody>
      </p:sp>
      <p:sp>
        <p:nvSpPr>
          <p:cNvPr id="5" name="Rounded Rectangle 4"/>
          <p:cNvSpPr/>
          <p:nvPr/>
        </p:nvSpPr>
        <p:spPr>
          <a:xfrm>
            <a:off x="6217920" y="1828800"/>
            <a:ext cx="2468880" cy="3840480"/>
          </a:xfrm>
          <a:prstGeom prst="roundRect">
            <a:avLst/>
          </a:prstGeom>
          <a:solidFill>
            <a:srgbClr val="06B6D4"/>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365760" rIns="182880" rtlCol="0" anchor="ctr"/>
          <a:lstStyle/>
          <a:p>
            <a:pPr algn="ctr">
              <a:defRPr sz="1600" b="1">
                <a:solidFill>
                  <a:srgbClr val="FFFFFF"/>
                </a:solidFill>
              </a:defRPr>
            </a:pPr>
            <a:r>
              <a:t>Frontend Client</a:t>
            </a:r>
          </a:p>
          <a:p>
            <a:pPr>
              <a:lnSpc>
                <a:spcPct val="130000"/>
              </a:lnSpc>
              <a:spcBef>
                <a:spcPts val="2000"/>
              </a:spcBef>
              <a:defRPr sz="1250">
                <a:solidFill>
                  <a:srgbClr val="475569"/>
                </a:solidFill>
              </a:defRPr>
            </a:pPr>
            <a:r>
              <a:t>React 19</a:t>
            </a:r>
            <a:br/>
            <a:r>
              <a:t>Vite (Scaffolder)</a:t>
            </a:r>
            <a:br/>
            <a:r>
              <a:t>Tailwind CSS</a:t>
            </a:r>
            <a:br/>
            <a:r>
              <a:t>Axios Client</a:t>
            </a:r>
            <a:br/>
            <a:r>
              <a:t>React Toastify</a:t>
            </a:r>
          </a:p>
        </p:txBody>
      </p:sp>
      <p:sp>
        <p:nvSpPr>
          <p:cNvPr id="6" name="Rounded Rectangle 5"/>
          <p:cNvSpPr/>
          <p:nvPr/>
        </p:nvSpPr>
        <p:spPr>
          <a:xfrm>
            <a:off x="8961120" y="1828800"/>
            <a:ext cx="2468880" cy="384048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365760" rIns="182880" rtlCol="0" anchor="ctr"/>
          <a:lstStyle/>
          <a:p>
            <a:pPr algn="ctr">
              <a:defRPr sz="1600" b="1">
                <a:solidFill>
                  <a:srgbClr val="0F2043"/>
                </a:solidFill>
              </a:defRPr>
            </a:pPr>
            <a:r>
              <a:t>DB &amp; DevOps</a:t>
            </a:r>
          </a:p>
          <a:p>
            <a:pPr>
              <a:lnSpc>
                <a:spcPct val="130000"/>
              </a:lnSpc>
              <a:spcBef>
                <a:spcPts val="2000"/>
              </a:spcBef>
              <a:defRPr sz="1250">
                <a:solidFill>
                  <a:srgbClr val="475569"/>
                </a:solidFill>
              </a:defRPr>
            </a:pPr>
            <a:r>
              <a:t>MySQL 8.0</a:t>
            </a:r>
            <a:br/>
            <a:r>
              <a:t>Hibernate (JPA)</a:t>
            </a:r>
            <a:br/>
            <a:r>
              <a:t>Docker &amp; Compose</a:t>
            </a:r>
            <a:br/>
            <a:r>
              <a:t>Jenkins Pipeline</a:t>
            </a:r>
            <a:br/>
            <a:r>
              <a:t>JaCoCo Coverage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2800" b="1">
                <a:solidFill>
                  <a:srgbClr val="0F2043"/>
                </a:solidFill>
                <a:latin typeface="Arial"/>
              </a:defRPr>
            </a:pPr>
            <a:r>
              <a:t>Service Discovery &amp; Configurations</a:t>
            </a:r>
          </a:p>
          <a:p>
            <a:pPr>
              <a:defRPr sz="1300">
                <a:solidFill>
                  <a:srgbClr val="4F66F1"/>
                </a:solidFill>
                <a:latin typeface="Arial"/>
              </a:defRPr>
            </a:pPr>
            <a:r>
              <a:t>Maintaining dynamic configurations and service mapping</a:t>
            </a:r>
          </a:p>
        </p:txBody>
      </p:sp>
      <p:sp>
        <p:nvSpPr>
          <p:cNvPr id="3" name="Rounded Rectangle 2"/>
          <p:cNvSpPr/>
          <p:nvPr/>
        </p:nvSpPr>
        <p:spPr>
          <a:xfrm>
            <a:off x="731520" y="1828800"/>
            <a:ext cx="5029200" cy="411480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365760" tIns="365760" rtlCol="0" anchor="ctr"/>
          <a:lstStyle/>
          <a:p>
            <a:pPr algn="ctr">
              <a:defRPr sz="1500" b="1">
                <a:solidFill>
                  <a:srgbClr val="4F66F1"/>
                </a:solidFill>
              </a:defRPr>
            </a:pPr>
            <a:r>
              <a:t>CENTRAL CONFIG SERVER (:8888)</a:t>
            </a:r>
          </a:p>
          <a:p>
            <a:pPr>
              <a:spcBef>
                <a:spcPts val="1500"/>
              </a:spcBef>
              <a:defRPr sz="1200">
                <a:solidFill>
                  <a:srgbClr val="475569"/>
                </a:solidFill>
              </a:defRPr>
            </a:pPr>
            <a:r>
              <a:t>• Unified Configuration: Shared properties (like JWT secrets and Eureka default URLs) are stored centrally.</a:t>
            </a:r>
          </a:p>
          <a:p>
            <a:pPr>
              <a:spcBef>
                <a:spcPts val="1500"/>
              </a:spcBef>
              <a:defRPr sz="1200">
                <a:solidFill>
                  <a:srgbClr val="475569"/>
                </a:solidFill>
              </a:defRPr>
            </a:pPr>
            <a:r>
              <a:t>• Security: Production database passwords and secrets are kept out of individual code repositories.</a:t>
            </a:r>
          </a:p>
          <a:p>
            <a:pPr>
              <a:spcBef>
                <a:spcPts val="1500"/>
              </a:spcBef>
              <a:defRPr sz="1200">
                <a:solidFill>
                  <a:srgbClr val="475569"/>
                </a:solidFill>
              </a:defRPr>
            </a:pPr>
            <a:r>
              <a:t>• Dynamic Profile Management: Loads different configurations for local development versus Docker deployments.</a:t>
            </a:r>
          </a:p>
        </p:txBody>
      </p:sp>
      <p:sp>
        <p:nvSpPr>
          <p:cNvPr id="4" name="Rounded Rectangle 3"/>
          <p:cNvSpPr/>
          <p:nvPr/>
        </p:nvSpPr>
        <p:spPr>
          <a:xfrm>
            <a:off x="6400800" y="1828800"/>
            <a:ext cx="5029200" cy="411480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365760" tIns="365760" rtlCol="0" anchor="ctr"/>
          <a:lstStyle/>
          <a:p>
            <a:pPr algn="ctr">
              <a:defRPr sz="1500" b="1">
                <a:solidFill>
                  <a:srgbClr val="0F2043"/>
                </a:solidFill>
              </a:defRPr>
            </a:pPr>
            <a:r>
              <a:t>EUREKA SERVICE DISCOVERY (:8761)</a:t>
            </a:r>
          </a:p>
          <a:p>
            <a:pPr>
              <a:spcBef>
                <a:spcPts val="1500"/>
              </a:spcBef>
              <a:defRPr sz="1200">
                <a:solidFill>
                  <a:srgbClr val="475569"/>
                </a:solidFill>
              </a:defRPr>
            </a:pPr>
            <a:r>
              <a:t>• Dynamic Registration: On startup, microservices register their dynamic port and IP address with Eureka.</a:t>
            </a:r>
          </a:p>
          <a:p>
            <a:pPr>
              <a:spcBef>
                <a:spcPts val="1500"/>
              </a:spcBef>
              <a:defRPr sz="1200">
                <a:solidFill>
                  <a:srgbClr val="475569"/>
                </a:solidFill>
              </a:defRPr>
            </a:pPr>
            <a:r>
              <a:t>• Hostname Abstraction: Inter-service communication uses logical application names (e.g. 'inventory-service') instead of hardcoded IPs.</a:t>
            </a:r>
          </a:p>
          <a:p>
            <a:pPr>
              <a:spcBef>
                <a:spcPts val="1500"/>
              </a:spcBef>
              <a:defRPr sz="1200">
                <a:solidFill>
                  <a:srgbClr val="475569"/>
                </a:solidFill>
              </a:defRPr>
            </a:pPr>
            <a:r>
              <a:t>• Health Monitoring: Eureka runs regular heartbeat checks. If a service container crashes, it is automatically removed from the registry.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2800" b="1">
                <a:solidFill>
                  <a:srgbClr val="0F2043"/>
                </a:solidFill>
                <a:latin typeface="Arial"/>
              </a:defRPr>
            </a:pPr>
            <a:r>
              <a:t>API Gateway &amp; Security Model</a:t>
            </a:r>
          </a:p>
          <a:p>
            <a:pPr>
              <a:defRPr sz="1300">
                <a:solidFill>
                  <a:srgbClr val="4F66F1"/>
                </a:solidFill>
                <a:latin typeface="Arial"/>
              </a:defRPr>
            </a:pPr>
            <a:r>
              <a:t>Securing microservices using stateless JWT tokens at the boundary</a:t>
            </a:r>
          </a:p>
        </p:txBody>
      </p:sp>
      <p:sp>
        <p:nvSpPr>
          <p:cNvPr id="3" name="Rectangle 2"/>
          <p:cNvSpPr/>
          <p:nvPr/>
        </p:nvSpPr>
        <p:spPr>
          <a:xfrm>
            <a:off x="731520" y="1828800"/>
            <a:ext cx="5029200" cy="4114800"/>
          </a:xfrm>
          <a:prstGeom prst="rect">
            <a:avLst/>
          </a:prstGeom>
          <a:solidFill>
            <a:srgbClr val="0F2043"/>
          </a:solidFill>
          <a:ln>
            <a:noFill/>
          </a:ln>
        </p:spPr>
        <p:style>
          <a:lnRef idx="1">
            <a:schemeClr val="accent1"/>
          </a:lnRef>
          <a:fillRef idx="3">
            <a:schemeClr val="accent1"/>
          </a:fillRef>
          <a:effectRef idx="2">
            <a:schemeClr val="accent1"/>
          </a:effectRef>
          <a:fontRef idx="minor">
            <a:schemeClr val="lt1"/>
          </a:fontRef>
        </p:style>
        <p:txBody>
          <a:bodyPr wrap="square" lIns="365760" tIns="548640" rIns="365760" rtlCol="0" anchor="ctr"/>
          <a:lstStyle/>
          <a:p>
            <a:pPr algn="ctr">
              <a:defRPr sz="1400" b="1">
                <a:solidFill>
                  <a:srgbClr val="06B6D4"/>
                </a:solidFill>
              </a:defRPr>
            </a:pPr>
            <a:r>
              <a:t>THE GATEWAY SECURITY SHIELD</a:t>
            </a:r>
          </a:p>
          <a:p>
            <a:pPr>
              <a:lnSpc>
                <a:spcPct val="130000"/>
              </a:lnSpc>
              <a:spcBef>
                <a:spcPts val="2000"/>
              </a:spcBef>
              <a:defRPr sz="1600">
                <a:solidFill>
                  <a:srgbClr val="FFFFFF"/>
                </a:solidFill>
              </a:defRPr>
            </a:pPr>
            <a:r>
              <a:t>The React client only talks to the API Gateway. The Gateway interceptor validates the JWT token, and if valid, mutates the request headers before sending it downstream.</a:t>
            </a:r>
          </a:p>
        </p:txBody>
      </p:sp>
      <p:sp>
        <p:nvSpPr>
          <p:cNvPr id="4" name="TextBox 3"/>
          <p:cNvSpPr txBox="1"/>
          <p:nvPr/>
        </p:nvSpPr>
        <p:spPr>
          <a:xfrm>
            <a:off x="6400800" y="1828800"/>
            <a:ext cx="5029200" cy="4114800"/>
          </a:xfrm>
          <a:prstGeom prst="rect">
            <a:avLst/>
          </a:prstGeom>
          <a:noFill/>
        </p:spPr>
        <p:txBody>
          <a:bodyPr wrap="square" lIns="0" tIns="0" rIns="0" bIns="0">
            <a:spAutoFit/>
          </a:bodyPr>
          <a:lstStyle/>
          <a:p>
            <a:endParaRPr/>
          </a:p>
          <a:p>
            <a:pPr>
              <a:spcAft>
                <a:spcPts val="1500"/>
              </a:spcAft>
              <a:defRPr sz="1300" b="1">
                <a:solidFill>
                  <a:srgbClr val="4F66F1"/>
                </a:solidFill>
              </a:defRPr>
            </a:pPr>
            <a:r>
              <a:t>• Stateless Authentication: </a:t>
            </a:r>
            <a:r>
              <a:rPr sz="1200" b="0">
                <a:solidFill>
                  <a:srgbClr val="475569"/>
                </a:solidFill>
              </a:rPr>
              <a:t>Uses JSON Web Tokens (JWT) signed with a HMAC-SHA shared secret key. No server-side session state is kept.</a:t>
            </a:r>
          </a:p>
          <a:p>
            <a:pPr>
              <a:spcAft>
                <a:spcPts val="1500"/>
              </a:spcAft>
              <a:defRPr sz="1300" b="1">
                <a:solidFill>
                  <a:srgbClr val="4F66F1"/>
                </a:solidFill>
              </a:defRPr>
            </a:pPr>
            <a:r>
              <a:t>• Gateway Token Validation: </a:t>
            </a:r>
            <a:r>
              <a:rPr sz="1200" b="0">
                <a:solidFill>
                  <a:srgbClr val="475569"/>
                </a:solidFill>
              </a:rPr>
              <a:t>The custom JwtAuthFilter intercepts incoming calls. Public paths (like login) are passed; others require a valid token.</a:t>
            </a:r>
          </a:p>
          <a:p>
            <a:pPr>
              <a:spcAft>
                <a:spcPts val="1500"/>
              </a:spcAft>
              <a:defRPr sz="1300" b="1">
                <a:solidFill>
                  <a:srgbClr val="4F66F1"/>
                </a:solidFill>
              </a:defRPr>
            </a:pPr>
            <a:r>
              <a:t>• Header Propagation: </a:t>
            </a:r>
            <a:r>
              <a:rPr sz="1200" b="0">
                <a:solidFill>
                  <a:srgbClr val="475569"/>
                </a:solidFill>
              </a:rPr>
              <a:t>Once validated, the Gateway extracts claims (User ID, Email, Role) and appends them as custom downstream headers (X-Auth-User-*).</a:t>
            </a:r>
          </a:p>
          <a:p>
            <a:pPr>
              <a:spcAft>
                <a:spcPts val="1500"/>
              </a:spcAft>
              <a:defRPr sz="1300" b="1">
                <a:solidFill>
                  <a:srgbClr val="4F66F1"/>
                </a:solidFill>
              </a:defRPr>
            </a:pPr>
            <a:r>
              <a:t>• Downstream RBAC Checks: </a:t>
            </a:r>
            <a:r>
              <a:rPr sz="1200" b="0">
                <a:solidFill>
                  <a:srgbClr val="475569"/>
                </a:solidFill>
              </a:rPr>
              <a:t>Individual services read these custom headers and use Spring Security configurations to restrict admin endpoints.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2800" b="1">
                <a:solidFill>
                  <a:srgbClr val="0F2043"/>
                </a:solidFill>
                <a:latin typeface="Arial"/>
              </a:defRPr>
            </a:pPr>
            <a:r>
              <a:t>Core Services: Auth &amp; Inventory</a:t>
            </a:r>
          </a:p>
          <a:p>
            <a:pPr>
              <a:defRPr sz="1300">
                <a:solidFill>
                  <a:srgbClr val="4F66F1"/>
                </a:solidFill>
                <a:latin typeface="Arial"/>
              </a:defRPr>
            </a:pPr>
            <a:r>
              <a:t>Managing credentials and catalog stock isolation</a:t>
            </a:r>
          </a:p>
        </p:txBody>
      </p:sp>
      <p:sp>
        <p:nvSpPr>
          <p:cNvPr id="3" name="Rounded Rectangle 2"/>
          <p:cNvSpPr/>
          <p:nvPr/>
        </p:nvSpPr>
        <p:spPr>
          <a:xfrm>
            <a:off x="731520" y="1828800"/>
            <a:ext cx="5029200" cy="411480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365760" tIns="365760" rtlCol="0" anchor="ctr"/>
          <a:lstStyle/>
          <a:p>
            <a:pPr algn="ctr">
              <a:defRPr sz="1500" b="1">
                <a:solidFill>
                  <a:srgbClr val="4F66F1"/>
                </a:solidFill>
              </a:defRPr>
            </a:pPr>
            <a:r>
              <a:t>AUTH SERVICE (:8081)</a:t>
            </a:r>
          </a:p>
          <a:p>
            <a:pPr>
              <a:spcBef>
                <a:spcPts val="1500"/>
              </a:spcBef>
              <a:defRPr sz="1200">
                <a:solidFill>
                  <a:srgbClr val="475569"/>
                </a:solidFill>
              </a:defRPr>
            </a:pPr>
            <a:r>
              <a:t>• User Database Isolation: Manages user logins and profiles in a dedicated database schema: auth_db.</a:t>
            </a:r>
          </a:p>
          <a:p>
            <a:pPr>
              <a:spcBef>
                <a:spcPts val="1500"/>
              </a:spcBef>
              <a:defRPr sz="1200">
                <a:solidFill>
                  <a:srgbClr val="475569"/>
                </a:solidFill>
              </a:defRPr>
            </a:pPr>
            <a:r>
              <a:t>• Credential Security: Encrypts passwords using BCryptPasswordEncoder on registration.</a:t>
            </a:r>
          </a:p>
          <a:p>
            <a:pPr>
              <a:spcBef>
                <a:spcPts val="1500"/>
              </a:spcBef>
              <a:defRPr sz="1200">
                <a:solidFill>
                  <a:srgbClr val="475569"/>
                </a:solidFill>
              </a:defRPr>
            </a:pPr>
            <a:r>
              <a:t>• Token Creation: Issues JWT tokens signed with a 256-bit secret key on successful authentication.</a:t>
            </a:r>
          </a:p>
        </p:txBody>
      </p:sp>
      <p:sp>
        <p:nvSpPr>
          <p:cNvPr id="4" name="Rounded Rectangle 3"/>
          <p:cNvSpPr/>
          <p:nvPr/>
        </p:nvSpPr>
        <p:spPr>
          <a:xfrm>
            <a:off x="6400800" y="1828800"/>
            <a:ext cx="5029200" cy="411480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365760" tIns="365760" rtlCol="0" anchor="ctr"/>
          <a:lstStyle/>
          <a:p>
            <a:pPr algn="ctr">
              <a:defRPr sz="1500" b="1">
                <a:solidFill>
                  <a:srgbClr val="0F2043"/>
                </a:solidFill>
              </a:defRPr>
            </a:pPr>
            <a:r>
              <a:t>INVENTORY SERVICE (:8082)</a:t>
            </a:r>
          </a:p>
          <a:p>
            <a:pPr>
              <a:spcBef>
                <a:spcPts val="1500"/>
              </a:spcBef>
              <a:defRPr sz="1200">
                <a:solidFill>
                  <a:srgbClr val="475569"/>
                </a:solidFill>
              </a:defRPr>
            </a:pPr>
            <a:r>
              <a:t>• Item Database Isolation: Stores the stationery catalog (name, category, available stock) in inventory_db.</a:t>
            </a:r>
          </a:p>
          <a:p>
            <a:pPr>
              <a:spcBef>
                <a:spcPts val="1500"/>
              </a:spcBef>
              <a:defRPr sz="1200">
                <a:solidFill>
                  <a:srgbClr val="475569"/>
                </a:solidFill>
              </a:defRPr>
            </a:pPr>
            <a:r>
              <a:t>• CRUD Endpoint Exposure: Provides paginated catalog access for students and full CRUD control for admins.</a:t>
            </a:r>
          </a:p>
          <a:p>
            <a:pPr>
              <a:spcBef>
                <a:spcPts val="1500"/>
              </a:spcBef>
              <a:defRPr sz="1200">
                <a:solidFill>
                  <a:srgbClr val="475569"/>
                </a:solidFill>
              </a:defRPr>
            </a:pPr>
            <a:r>
              <a:t>• Low-Stock Safeguards: Triggers low-stock alerts when available quantity falls below minimum safety thresholds.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2800" b="1">
                <a:solidFill>
                  <a:srgbClr val="0F2043"/>
                </a:solidFill>
                <a:latin typeface="Arial"/>
              </a:defRPr>
            </a:pPr>
            <a:r>
              <a:t>Requests Service &amp; OpenFeign</a:t>
            </a:r>
          </a:p>
          <a:p>
            <a:pPr>
              <a:defRPr sz="1300">
                <a:solidFill>
                  <a:srgbClr val="4F66F1"/>
                </a:solidFill>
                <a:latin typeface="Arial"/>
              </a:defRPr>
            </a:pPr>
            <a:r>
              <a:t>Orchestrating transactional stock updates across database boundaries</a:t>
            </a:r>
          </a:p>
        </p:txBody>
      </p:sp>
      <p:sp>
        <p:nvSpPr>
          <p:cNvPr id="3" name="Rectangle 2"/>
          <p:cNvSpPr/>
          <p:nvPr/>
        </p:nvSpPr>
        <p:spPr>
          <a:xfrm>
            <a:off x="731520" y="1828800"/>
            <a:ext cx="5029200" cy="4114800"/>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274320" rtlCol="0" anchor="ctr"/>
          <a:lstStyle/>
          <a:p>
            <a:pPr algn="ctr">
              <a:defRPr sz="1500" b="1">
                <a:solidFill>
                  <a:srgbClr val="4F66F1"/>
                </a:solidFill>
              </a:defRPr>
            </a:pPr>
            <a:r>
              <a:t>THE OPENFEIGN CONNECTOR</a:t>
            </a:r>
          </a:p>
          <a:p>
            <a:pPr>
              <a:spcBef>
                <a:spcPts val="1500"/>
              </a:spcBef>
              <a:defRPr sz="1050">
                <a:solidFill>
                  <a:srgbClr val="475569"/>
                </a:solidFill>
                <a:latin typeface="Courier New"/>
              </a:defRPr>
            </a:pPr>
            <a:r>
              <a:t>@FeignClient(name = "inventory-service")</a:t>
            </a:r>
            <a:br/>
            <a:r>
              <a:t>public interface InventoryFeignClient {</a:t>
            </a:r>
            <a:br/>
            <a:r>
              <a:t>    @PutMapping("/api/inventory/{id}/deduct")</a:t>
            </a:r>
            <a:br/>
            <a:r>
              <a:t>    void deductQuantity(</a:t>
            </a:r>
            <a:br/>
            <a:r>
              <a:t>        @PathVariable Long id, </a:t>
            </a:r>
            <a:br/>
            <a:r>
              <a:t>        @RequestParam int qty</a:t>
            </a:r>
            <a:br/>
            <a:r>
              <a:t>    );</a:t>
            </a:r>
            <a:br/>
            <a:r>
              <a:t>}</a:t>
            </a:r>
          </a:p>
          <a:p>
            <a:pPr>
              <a:spcBef>
                <a:spcPts val="2000"/>
              </a:spcBef>
              <a:defRPr sz="1100">
                <a:solidFill>
                  <a:srgbClr val="0F2043"/>
                </a:solidFill>
              </a:defRPr>
            </a:pPr>
            <a:r>
              <a:t>Allows type-safe REST communication without writing HTTP client code manually.</a:t>
            </a:r>
          </a:p>
        </p:txBody>
      </p:sp>
      <p:sp>
        <p:nvSpPr>
          <p:cNvPr id="4" name="TextBox 3"/>
          <p:cNvSpPr txBox="1"/>
          <p:nvPr/>
        </p:nvSpPr>
        <p:spPr>
          <a:xfrm>
            <a:off x="6400800" y="1828800"/>
            <a:ext cx="5029200" cy="4114800"/>
          </a:xfrm>
          <a:prstGeom prst="rect">
            <a:avLst/>
          </a:prstGeom>
          <a:noFill/>
        </p:spPr>
        <p:txBody>
          <a:bodyPr wrap="square" lIns="0" tIns="0" rIns="0" bIns="0">
            <a:spAutoFit/>
          </a:bodyPr>
          <a:lstStyle/>
          <a:p>
            <a:endParaRPr/>
          </a:p>
          <a:p>
            <a:pPr>
              <a:spcAft>
                <a:spcPts val="1500"/>
              </a:spcAft>
              <a:defRPr sz="1300" b="1">
                <a:solidFill>
                  <a:srgbClr val="0F2043"/>
                </a:solidFill>
              </a:defRPr>
            </a:pPr>
            <a:r>
              <a:t>• Request Isolation: </a:t>
            </a:r>
            <a:r>
              <a:rPr sz="1150" b="0">
                <a:solidFill>
                  <a:srgbClr val="475569"/>
                </a:solidFill>
              </a:rPr>
              <a:t>Handles cart logic and order processing, storing entries in request_db. Student details are denormalized for speed.</a:t>
            </a:r>
          </a:p>
          <a:p>
            <a:pPr>
              <a:spcAft>
                <a:spcPts val="1500"/>
              </a:spcAft>
              <a:defRPr sz="1300" b="1">
                <a:solidFill>
                  <a:srgbClr val="0F2043"/>
                </a:solidFill>
              </a:defRPr>
            </a:pPr>
            <a:r>
              <a:t>• Stock Validation Flow: </a:t>
            </a:r>
            <a:r>
              <a:rPr sz="1150" b="0">
                <a:solidFill>
                  <a:srgbClr val="475569"/>
                </a:solidFill>
              </a:rPr>
              <a:t>When a student submits an order, the service calls the Feign client to verify that stock exists in the inventory database.</a:t>
            </a:r>
          </a:p>
          <a:p>
            <a:pPr>
              <a:spcAft>
                <a:spcPts val="1500"/>
              </a:spcAft>
              <a:defRPr sz="1300" b="1">
                <a:solidFill>
                  <a:srgbClr val="0F2043"/>
                </a:solidFill>
              </a:defRPr>
            </a:pPr>
            <a:r>
              <a:t>• Atomic Deduction: </a:t>
            </a:r>
            <a:r>
              <a:rPr sz="1150" b="0">
                <a:solidFill>
                  <a:srgbClr val="475569"/>
                </a:solidFill>
              </a:rPr>
              <a:t>When an admin clicks Approve, the Request service calls the Feign client to deduct stock. If successful, the request status is set to APPROVED.</a:t>
            </a:r>
          </a:p>
          <a:p>
            <a:pPr>
              <a:spcAft>
                <a:spcPts val="1500"/>
              </a:spcAft>
              <a:defRPr sz="1300" b="1">
                <a:solidFill>
                  <a:srgbClr val="0F2043"/>
                </a:solidFill>
              </a:defRPr>
            </a:pPr>
            <a:r>
              <a:t>• Transactional Rollbacks: </a:t>
            </a:r>
            <a:r>
              <a:rPr sz="1150" b="0">
                <a:solidFill>
                  <a:srgbClr val="475569"/>
                </a:solidFill>
              </a:rPr>
              <a:t>If a stock deduction fails (e.g. due to insufficient quantity), the entire transaction rolls back, keeping database states consistent.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2800" b="1">
                <a:solidFill>
                  <a:srgbClr val="0F2043"/>
                </a:solidFill>
                <a:latin typeface="Arial"/>
              </a:defRPr>
            </a:pPr>
            <a:r>
              <a:t>End-to-End Execution Flow</a:t>
            </a:r>
          </a:p>
          <a:p>
            <a:pPr>
              <a:defRPr sz="1300">
                <a:solidFill>
                  <a:srgbClr val="4F66F1"/>
                </a:solidFill>
                <a:latin typeface="Arial"/>
              </a:defRPr>
            </a:pPr>
            <a:r>
              <a:t>Sequence of events from student cart submission to stock updates</a:t>
            </a:r>
          </a:p>
        </p:txBody>
      </p:sp>
      <p:sp>
        <p:nvSpPr>
          <p:cNvPr id="3" name="TextBox 2"/>
          <p:cNvSpPr txBox="1"/>
          <p:nvPr/>
        </p:nvSpPr>
        <p:spPr>
          <a:xfrm>
            <a:off x="731520" y="1828800"/>
            <a:ext cx="10698480" cy="4114800"/>
          </a:xfrm>
          <a:prstGeom prst="rect">
            <a:avLst/>
          </a:prstGeom>
          <a:noFill/>
        </p:spPr>
        <p:txBody>
          <a:bodyPr wrap="square" lIns="0" tIns="0" rIns="0" bIns="0">
            <a:spAutoFit/>
          </a:bodyPr>
          <a:lstStyle/>
          <a:p>
            <a:endParaRPr/>
          </a:p>
          <a:p>
            <a:pPr>
              <a:spcAft>
                <a:spcPts val="1200"/>
              </a:spcAft>
              <a:defRPr sz="1400" b="1">
                <a:solidFill>
                  <a:srgbClr val="0F2043"/>
                </a:solidFill>
              </a:defRPr>
            </a:pPr>
            <a:r>
              <a:t>1. Cart Submission: </a:t>
            </a:r>
            <a:r>
              <a:rPr sz="1200" b="0">
                <a:solidFill>
                  <a:srgbClr val="475569"/>
                </a:solidFill>
              </a:rPr>
              <a:t>Student adds items to the basket and clicks Submit. The UI sends a POST request to the Gateway, which validates the JWT and routes it to the Request Service.</a:t>
            </a:r>
          </a:p>
          <a:p>
            <a:pPr>
              <a:spcAft>
                <a:spcPts val="1200"/>
              </a:spcAft>
              <a:defRPr sz="1400" b="1">
                <a:solidFill>
                  <a:srgbClr val="0F2043"/>
                </a:solidFill>
              </a:defRPr>
            </a:pPr>
            <a:r>
              <a:t>2. Pending Registration: </a:t>
            </a:r>
            <a:r>
              <a:rPr sz="1200" b="0">
                <a:solidFill>
                  <a:srgbClr val="475569"/>
                </a:solidFill>
              </a:rPr>
              <a:t>The Request Service saves the order in `request_db` with a PENDING status, returning a success message to the client.</a:t>
            </a:r>
          </a:p>
          <a:p>
            <a:pPr>
              <a:spcAft>
                <a:spcPts val="1200"/>
              </a:spcAft>
              <a:defRPr sz="1400" b="1">
                <a:solidFill>
                  <a:srgbClr val="0F2043"/>
                </a:solidFill>
              </a:defRPr>
            </a:pPr>
            <a:r>
              <a:t>3. Admin Review: </a:t>
            </a:r>
            <a:r>
              <a:rPr sz="1200" b="0">
                <a:solidFill>
                  <a:srgbClr val="475569"/>
                </a:solidFill>
              </a:rPr>
              <a:t>The Admin logs in, checks the request list, and clicks Approve. The UI sends a PUT request to the Gateway, which routes it to the Request Service.</a:t>
            </a:r>
          </a:p>
          <a:p>
            <a:pPr>
              <a:spcAft>
                <a:spcPts val="1200"/>
              </a:spcAft>
              <a:defRPr sz="1400" b="1">
                <a:solidFill>
                  <a:srgbClr val="0F2043"/>
                </a:solidFill>
              </a:defRPr>
            </a:pPr>
            <a:r>
              <a:t>4. Feign Deduction Call: </a:t>
            </a:r>
            <a:r>
              <a:rPr sz="1200" b="0">
                <a:solidFill>
                  <a:srgbClr val="475569"/>
                </a:solidFill>
              </a:rPr>
              <a:t>The Request Service makes a Feign client call to `inventory-service` to deduct the stock. The Inventory Service updates the stock levels.</a:t>
            </a:r>
          </a:p>
          <a:p>
            <a:pPr>
              <a:spcAft>
                <a:spcPts val="1200"/>
              </a:spcAft>
              <a:defRPr sz="1400" b="1">
                <a:solidFill>
                  <a:srgbClr val="0F2043"/>
                </a:solidFill>
              </a:defRPr>
            </a:pPr>
            <a:r>
              <a:t>5. Status Update: </a:t>
            </a:r>
            <a:r>
              <a:rPr sz="1200" b="0">
                <a:solidFill>
                  <a:srgbClr val="475569"/>
                </a:solidFill>
              </a:rPr>
              <a:t>Once the stock deduction completes successfully, the Request Service updates the request status to APPROVED in `request_db`.</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2800" b="1">
                <a:solidFill>
                  <a:srgbClr val="0F2043"/>
                </a:solidFill>
                <a:latin typeface="Arial"/>
              </a:defRPr>
            </a:pPr>
            <a:r>
              <a:t>Database Design &amp; Isolation</a:t>
            </a:r>
          </a:p>
          <a:p>
            <a:pPr>
              <a:defRPr sz="1300">
                <a:solidFill>
                  <a:srgbClr val="4F66F1"/>
                </a:solidFill>
                <a:latin typeface="Arial"/>
              </a:defRPr>
            </a:pPr>
            <a:r>
              <a:t>Enforcing database isolation with decoupled MySQL schemas</a:t>
            </a:r>
          </a:p>
        </p:txBody>
      </p:sp>
      <p:sp>
        <p:nvSpPr>
          <p:cNvPr id="3" name="Rectangle 2"/>
          <p:cNvSpPr/>
          <p:nvPr/>
        </p:nvSpPr>
        <p:spPr>
          <a:xfrm>
            <a:off x="731520" y="1828800"/>
            <a:ext cx="10698480" cy="4114800"/>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365760" tIns="365760" rIns="365760" rtlCol="0" anchor="ctr"/>
          <a:lstStyle/>
          <a:p>
            <a:pPr algn="ctr">
              <a:defRPr sz="1600" b="1">
                <a:solidFill>
                  <a:srgbClr val="0F2043"/>
                </a:solidFill>
              </a:defRPr>
            </a:pPr>
            <a:r>
              <a:t>DECOUPLED DATABASE CONFIGURATIONS</a:t>
            </a:r>
          </a:p>
          <a:p>
            <a:pPr>
              <a:spcBef>
                <a:spcPts val="1500"/>
              </a:spcBef>
              <a:defRPr sz="1300" b="1">
                <a:solidFill>
                  <a:srgbClr val="4F66F1"/>
                </a:solidFill>
              </a:defRPr>
            </a:pPr>
            <a:r>
              <a:t>Schema: auth_db  (users table)</a:t>
            </a:r>
            <a:br/>
            <a:r>
              <a:rPr sz="1150" b="0">
                <a:solidFill>
                  <a:srgbClr val="475569"/>
                </a:solidFill>
              </a:rPr>
              <a:t>id (PK) • email (Unique) • password (BCrypt) • full_name • role (Enum)</a:t>
            </a:r>
          </a:p>
          <a:p>
            <a:pPr>
              <a:spcBef>
                <a:spcPts val="1500"/>
              </a:spcBef>
              <a:defRPr sz="1300" b="1">
                <a:solidFill>
                  <a:srgbClr val="4F66F1"/>
                </a:solidFill>
              </a:defRPr>
            </a:pPr>
            <a:r>
              <a:t>Schema: inventory_db  (stationery_items table)</a:t>
            </a:r>
            <a:br/>
            <a:r>
              <a:rPr sz="1150" b="0">
                <a:solidFill>
                  <a:srgbClr val="475569"/>
                </a:solidFill>
              </a:rPr>
              <a:t>id (PK) • name • category (Enum) • unit • available_quantity • minimum_quantity</a:t>
            </a:r>
          </a:p>
          <a:p>
            <a:pPr>
              <a:spcBef>
                <a:spcPts val="1500"/>
              </a:spcBef>
              <a:defRPr sz="1300" b="1">
                <a:solidFill>
                  <a:srgbClr val="4F66F1"/>
                </a:solidFill>
              </a:defRPr>
            </a:pPr>
            <a:r>
              <a:t>Schema: request_db  (stationery_requests &amp; request_items)</a:t>
            </a:r>
            <a:br/>
            <a:r>
              <a:rPr sz="1150" b="0">
                <a:solidFill>
                  <a:srgbClr val="475569"/>
                </a:solidFill>
              </a:rPr>
              <a:t>requests: id (PK) • student_id • student_email • status • admin_comment
request_items: id (PK) • request_id (FK) • item_id • item_name • quantity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2800" b="1">
                <a:solidFill>
                  <a:srgbClr val="0F2043"/>
                </a:solidFill>
                <a:latin typeface="Arial"/>
              </a:defRPr>
            </a:pPr>
            <a:r>
              <a:t>CI/CD &amp; Deployment Orchestrations</a:t>
            </a:r>
          </a:p>
          <a:p>
            <a:pPr>
              <a:defRPr sz="1300">
                <a:solidFill>
                  <a:srgbClr val="4F66F1"/>
                </a:solidFill>
                <a:latin typeface="Arial"/>
              </a:defRPr>
            </a:pPr>
            <a:r>
              <a:t>Achieving high availability and automated deployment pipelines</a:t>
            </a:r>
          </a:p>
        </p:txBody>
      </p:sp>
      <p:sp>
        <p:nvSpPr>
          <p:cNvPr id="3" name="Rounded Rectangle 2"/>
          <p:cNvSpPr/>
          <p:nvPr/>
        </p:nvSpPr>
        <p:spPr>
          <a:xfrm>
            <a:off x="731520" y="1828800"/>
            <a:ext cx="5029200" cy="411480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365760" tIns="365760" rtlCol="0" anchor="ctr"/>
          <a:lstStyle/>
          <a:p>
            <a:pPr algn="ctr">
              <a:defRPr sz="1500" b="1">
                <a:solidFill>
                  <a:srgbClr val="4F66F1"/>
                </a:solidFill>
              </a:defRPr>
            </a:pPr>
            <a:r>
              <a:t>CONTAINERIZATION (DOCKER)</a:t>
            </a:r>
          </a:p>
          <a:p>
            <a:pPr>
              <a:spcBef>
                <a:spcPts val="1500"/>
              </a:spcBef>
              <a:defRPr sz="1200">
                <a:solidFill>
                  <a:srgbClr val="475569"/>
                </a:solidFill>
              </a:defRPr>
            </a:pPr>
            <a:r>
              <a:t>• Single-Command Launch: docker compose up --build launches all databases, configuration repositories, backend services, and the React client.</a:t>
            </a:r>
          </a:p>
          <a:p>
            <a:pPr>
              <a:spcBef>
                <a:spcPts val="1500"/>
              </a:spcBef>
              <a:defRPr sz="1200">
                <a:solidFill>
                  <a:srgbClr val="475569"/>
                </a:solidFill>
              </a:defRPr>
            </a:pPr>
            <a:r>
              <a:t>• Persistent Volumes: Database files are written to host mounts, ensuring state changes persist when containers restart.</a:t>
            </a:r>
          </a:p>
          <a:p>
            <a:pPr>
              <a:spcBef>
                <a:spcPts val="1500"/>
              </a:spcBef>
              <a:defRPr sz="1200">
                <a:solidFill>
                  <a:srgbClr val="475569"/>
                </a:solidFill>
              </a:defRPr>
            </a:pPr>
            <a:r>
              <a:t>• Service Healthchecks: Gateway and Config containers verify Eureka health before booting to prevent initialization errors.</a:t>
            </a:r>
          </a:p>
        </p:txBody>
      </p:sp>
      <p:sp>
        <p:nvSpPr>
          <p:cNvPr id="4" name="Rounded Rectangle 3"/>
          <p:cNvSpPr/>
          <p:nvPr/>
        </p:nvSpPr>
        <p:spPr>
          <a:xfrm>
            <a:off x="6400800" y="1828800"/>
            <a:ext cx="5029200" cy="411480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365760" tIns="365760" rtlCol="0" anchor="ctr"/>
          <a:lstStyle/>
          <a:p>
            <a:pPr algn="ctr">
              <a:defRPr sz="1500" b="1">
                <a:solidFill>
                  <a:srgbClr val="0F2043"/>
                </a:solidFill>
              </a:defRPr>
            </a:pPr>
            <a:r>
              <a:t>AUTOMATED PIPELINE (JENKINS)</a:t>
            </a:r>
          </a:p>
          <a:p>
            <a:pPr>
              <a:spcBef>
                <a:spcPts val="1500"/>
              </a:spcBef>
              <a:defRPr sz="1200">
                <a:solidFill>
                  <a:srgbClr val="475569"/>
                </a:solidFill>
              </a:defRPr>
            </a:pPr>
            <a:r>
              <a:t>• Environment Checks: Verifies JDK and Maven configurations on the build node.</a:t>
            </a:r>
          </a:p>
          <a:p>
            <a:pPr>
              <a:spcBef>
                <a:spcPts val="1500"/>
              </a:spcBef>
              <a:defRPr sz="1200">
                <a:solidFill>
                  <a:srgbClr val="475569"/>
                </a:solidFill>
              </a:defRPr>
            </a:pPr>
            <a:r>
              <a:t>• Automated Compilation: Fetches dependency libraries and packages services into executable jars.</a:t>
            </a:r>
          </a:p>
          <a:p>
            <a:pPr>
              <a:spcBef>
                <a:spcPts val="1500"/>
              </a:spcBef>
              <a:defRPr sz="1200">
                <a:solidFill>
                  <a:srgbClr val="475569"/>
                </a:solidFill>
              </a:defRPr>
            </a:pPr>
            <a:r>
              <a:t>• Test Isolation: Runs Junit/Mockito test suites on code updates, blocking deployments if a test fails.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2800" b="1">
                <a:solidFill>
                  <a:srgbClr val="0F2043"/>
                </a:solidFill>
                <a:latin typeface="Arial"/>
              </a:defRPr>
            </a:pPr>
            <a:r>
              <a:t>Testing &amp; Code Coverage Quality</a:t>
            </a:r>
          </a:p>
          <a:p>
            <a:pPr>
              <a:defRPr sz="1300">
                <a:solidFill>
                  <a:srgbClr val="4F66F1"/>
                </a:solidFill>
                <a:latin typeface="Arial"/>
              </a:defRPr>
            </a:pPr>
            <a:r>
              <a:t>Ensuring correctness and regression safety with Junit and Mockito</a:t>
            </a:r>
          </a:p>
        </p:txBody>
      </p:sp>
      <p:sp>
        <p:nvSpPr>
          <p:cNvPr id="3" name="Rectangle 2"/>
          <p:cNvSpPr/>
          <p:nvPr/>
        </p:nvSpPr>
        <p:spPr>
          <a:xfrm>
            <a:off x="731520" y="1828800"/>
            <a:ext cx="5029200" cy="4114800"/>
          </a:xfrm>
          <a:prstGeom prst="rect">
            <a:avLst/>
          </a:prstGeom>
          <a:solidFill>
            <a:srgbClr val="0F2043"/>
          </a:solidFill>
          <a:ln>
            <a:noFill/>
          </a:ln>
        </p:spPr>
        <p:style>
          <a:lnRef idx="1">
            <a:schemeClr val="accent1"/>
          </a:lnRef>
          <a:fillRef idx="3">
            <a:schemeClr val="accent1"/>
          </a:fillRef>
          <a:effectRef idx="2">
            <a:schemeClr val="accent1"/>
          </a:effectRef>
          <a:fontRef idx="minor">
            <a:schemeClr val="lt1"/>
          </a:fontRef>
        </p:style>
        <p:txBody>
          <a:bodyPr wrap="square" lIns="365760" tIns="548640" rIns="365760" rtlCol="0" anchor="ctr"/>
          <a:lstStyle/>
          <a:p>
            <a:pPr algn="ctr">
              <a:defRPr sz="1400" b="1">
                <a:solidFill>
                  <a:srgbClr val="06B6D4"/>
                </a:solidFill>
              </a:defRPr>
            </a:pPr>
            <a:r>
              <a:t>TEST COVERAGE QUALITY METRICS</a:t>
            </a:r>
          </a:p>
          <a:p>
            <a:pPr>
              <a:lnSpc>
                <a:spcPct val="130000"/>
              </a:lnSpc>
              <a:spcBef>
                <a:spcPts val="2000"/>
              </a:spcBef>
              <a:defRPr sz="1600">
                <a:solidFill>
                  <a:srgbClr val="FFFFFF"/>
                </a:solidFill>
              </a:defRPr>
            </a:pPr>
            <a:r>
              <a:t>All business logic is validated using isolated unit tests. We mock database repositories and network clients using Mockito to isolate tests.</a:t>
            </a:r>
          </a:p>
        </p:txBody>
      </p:sp>
      <p:sp>
        <p:nvSpPr>
          <p:cNvPr id="4" name="TextBox 3"/>
          <p:cNvSpPr txBox="1"/>
          <p:nvPr/>
        </p:nvSpPr>
        <p:spPr>
          <a:xfrm>
            <a:off x="6400800" y="1828800"/>
            <a:ext cx="5029200" cy="4114800"/>
          </a:xfrm>
          <a:prstGeom prst="rect">
            <a:avLst/>
          </a:prstGeom>
          <a:noFill/>
        </p:spPr>
        <p:txBody>
          <a:bodyPr wrap="square" lIns="0" tIns="0" rIns="0" bIns="0">
            <a:spAutoFit/>
          </a:bodyPr>
          <a:lstStyle/>
          <a:p>
            <a:endParaRPr/>
          </a:p>
          <a:p>
            <a:pPr>
              <a:spcAft>
                <a:spcPts val="1500"/>
              </a:spcAft>
              <a:defRPr sz="1300" b="1">
                <a:solidFill>
                  <a:srgbClr val="4F66F1"/>
                </a:solidFill>
              </a:defRPr>
            </a:pPr>
            <a:r>
              <a:t>• JUnit 5 Test Suites: </a:t>
            </a:r>
            <a:r>
              <a:rPr sz="1200" b="0">
                <a:solidFill>
                  <a:srgbClr val="475569"/>
                </a:solidFill>
              </a:rPr>
              <a:t>Tests are written using JUnit 5. We validate positive paths (e.g. login success) and negative paths (e.g. validation errors).</a:t>
            </a:r>
          </a:p>
          <a:p>
            <a:pPr>
              <a:spcAft>
                <a:spcPts val="1500"/>
              </a:spcAft>
              <a:defRPr sz="1300" b="1">
                <a:solidFill>
                  <a:srgbClr val="4F66F1"/>
                </a:solidFill>
              </a:defRPr>
            </a:pPr>
            <a:r>
              <a:t>• Mockito Mocking Framework: </a:t>
            </a:r>
            <a:r>
              <a:rPr sz="1200" b="0">
                <a:solidFill>
                  <a:srgbClr val="475569"/>
                </a:solidFill>
              </a:rPr>
              <a:t>Excludes external database connection dependencies during testing. Mocks repositories to simulate database operations.</a:t>
            </a:r>
          </a:p>
          <a:p>
            <a:pPr>
              <a:spcAft>
                <a:spcPts val="1500"/>
              </a:spcAft>
              <a:defRPr sz="1300" b="1">
                <a:solidFill>
                  <a:srgbClr val="4F66F1"/>
                </a:solidFill>
              </a:defRPr>
            </a:pPr>
            <a:r>
              <a:t>• JaCoCo Code Coverage: </a:t>
            </a:r>
            <a:r>
              <a:rPr sz="1200" b="0">
                <a:solidFill>
                  <a:srgbClr val="475569"/>
                </a:solidFill>
              </a:rPr>
              <a:t>Measures coverage levels. Reports are generated dynamically under target/site/jacoco/index.html after tests finish.</a:t>
            </a:r>
          </a:p>
          <a:p>
            <a:pPr>
              <a:spcAft>
                <a:spcPts val="1500"/>
              </a:spcAft>
              <a:defRPr sz="1300" b="1">
                <a:solidFill>
                  <a:srgbClr val="4F66F1"/>
                </a:solidFill>
              </a:defRPr>
            </a:pPr>
            <a:r>
              <a:t>• E2E Integration Success: </a:t>
            </a:r>
            <a:r>
              <a:rPr sz="1200" b="0">
                <a:solidFill>
                  <a:srgbClr val="475569"/>
                </a:solidFill>
              </a:rPr>
              <a:t>26 tests run and pass successfully across services, guaranteeing stability during code updates.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TotalTime>
  <Words>2477</Words>
  <Application>Microsoft Office PowerPoint</Application>
  <PresentationFormat>Widescreen</PresentationFormat>
  <Paragraphs>173</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chetan gupta</cp:lastModifiedBy>
  <cp:revision>2</cp:revision>
  <dcterms:created xsi:type="dcterms:W3CDTF">2013-01-27T09:14:16Z</dcterms:created>
  <dcterms:modified xsi:type="dcterms:W3CDTF">2026-06-23T06:30:12Z</dcterms:modified>
  <cp:category/>
</cp:coreProperties>
</file>